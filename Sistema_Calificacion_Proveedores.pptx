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Acceso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671-4B94-9C3C-70D322B43AA9}"/>
              </c:ext>
            </c:extLst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671-4B94-9C3C-70D322B43AA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671-4B94-9C3C-70D322B43AA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71-4B94-9C3C-70D322B43AA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Con acceso</c:v>
                </c:pt>
                <c:pt idx="1">
                  <c:v>Sin acceso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6.3</c:v>
                </c:pt>
                <c:pt idx="1">
                  <c:v>93.7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671-4B94-9C3C-70D322B43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s-PE" sz="1100" b="0" i="0" u="none" strike="noStrike">
                <a:solidFill>
                  <a:srgbClr val="1E293B"/>
                </a:solidFill>
                <a:latin typeface="Arial"/>
              </a:rPr>
              <a:t>Ejemplo: Score Calidad-Precio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C/P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48-4BD7-AB9E-F8228480D60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948-4BD7-AB9E-F8228480D60C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948-4BD7-AB9E-F8228480D60C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948-4BD7-AB9E-F8228480D60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Prov. A</c:v>
                </c:pt>
                <c:pt idx="1">
                  <c:v>Prov. B</c:v>
                </c:pt>
                <c:pt idx="2">
                  <c:v>Prov. C</c:v>
                </c:pt>
                <c:pt idx="3">
                  <c:v>Prov.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72</c:v>
                </c:pt>
                <c:pt idx="2">
                  <c:v>95</c:v>
                </c:pt>
                <c:pt idx="3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948-4BD7-AB9E-F8228480D6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s-MX" sz="1100" b="0" i="0" u="none" strike="noStrike">
                <a:solidFill>
                  <a:srgbClr val="1E293B"/>
                </a:solidFill>
                <a:latin typeface="Arial"/>
              </a:rPr>
              <a:t>Historial de Plazos por Proveedor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Plazo Contractual (días)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Proy. 1</c:v>
                </c:pt>
                <c:pt idx="1">
                  <c:v>Proy. 2</c:v>
                </c:pt>
                <c:pt idx="2">
                  <c:v>Proy. 3</c:v>
                </c:pt>
                <c:pt idx="3">
                  <c:v>Proy. 4</c:v>
                </c:pt>
                <c:pt idx="4">
                  <c:v>Proy.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45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FBF-4470-8942-6B97BB1DA6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Entrega Real (días)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Proy. 1</c:v>
                </c:pt>
                <c:pt idx="1">
                  <c:v>Proy. 2</c:v>
                </c:pt>
                <c:pt idx="2">
                  <c:v>Proy. 3</c:v>
                </c:pt>
                <c:pt idx="3">
                  <c:v>Proy. 4</c:v>
                </c:pt>
                <c:pt idx="4">
                  <c:v>Proy.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</c:v>
                </c:pt>
                <c:pt idx="1">
                  <c:v>42</c:v>
                </c:pt>
                <c:pt idx="2">
                  <c:v>65</c:v>
                </c:pt>
                <c:pt idx="3">
                  <c:v>88</c:v>
                </c:pt>
                <c:pt idx="4">
                  <c:v>118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FBF-4470-8942-6B97BB1DA6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s-PE" sz="1100" b="0" i="0" u="none" strike="noStrike">
                <a:solidFill>
                  <a:srgbClr val="1E293B"/>
                </a:solidFill>
                <a:latin typeface="Arial"/>
              </a:rPr>
              <a:t>Dimensiones de Satisfacción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Prov. A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Comunicación</c:v>
                </c:pt>
                <c:pt idx="1">
                  <c:v>Calidad técnica</c:v>
                </c:pt>
                <c:pt idx="2">
                  <c:v>Cumplimiento</c:v>
                </c:pt>
                <c:pt idx="3">
                  <c:v>Soporte</c:v>
                </c:pt>
                <c:pt idx="4">
                  <c:v>Costo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</c:v>
                </c:pt>
                <c:pt idx="1">
                  <c:v>4.2</c:v>
                </c:pt>
                <c:pt idx="2">
                  <c:v>3.8</c:v>
                </c:pt>
                <c:pt idx="3">
                  <c:v>4</c:v>
                </c:pt>
                <c:pt idx="4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06-4830-9E13-8FD8AF6892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1E293B"/>
                </a:solidFill>
                <a:latin typeface="Arial"/>
              </a:rPr>
              <a:t>Antes vs. Después del Sistema de Calificación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Situación Actual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Postores por proceso</c:v>
                </c:pt>
                <c:pt idx="1">
                  <c:v>Tasa desiertos (%)</c:v>
                </c:pt>
                <c:pt idx="2">
                  <c:v>Ahorro estimado (%)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17.8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4E-403B-B1B3-3F44C32B74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el Sistema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Postores por proceso</c:v>
                </c:pt>
                <c:pt idx="1">
                  <c:v>Tasa desiertos (%)</c:v>
                </c:pt>
                <c:pt idx="2">
                  <c:v>Ahorro estimado (%)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4.5</c:v>
                </c:pt>
                <c:pt idx="1">
                  <c:v>3</c:v>
                </c:pt>
                <c:pt idx="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4E-403B-B1B3-3F44C32B74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991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0080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CAPÍTULO II — PLATAFORMA DIGITAL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kern="0" spc="-50" dirty="0">
                <a:solidFill>
                  <a:srgbClr val="FFFFFF"/>
                </a:solidFill>
              </a:rPr>
              <a:t>Sistema de Analítica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kern="0" spc="-50" dirty="0">
                <a:solidFill>
                  <a:srgbClr val="FFFFFF"/>
                </a:solidFill>
              </a:rPr>
              <a:t>Visual y Criterios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kern="0" spc="-50" dirty="0">
                <a:solidFill>
                  <a:srgbClr val="FFFFFF"/>
                </a:solidFill>
              </a:rPr>
              <a:t>Dinámicos de Calificación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4B8A6"/>
                </a:solidFill>
              </a:rPr>
              <a:t>Plataforma de evaluación de proveedores para la Municipalidad Distrital de Miraflores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Hackathon Transformagob 2026  ·  Universidad Nacional del Centro del Perú  ·  Huancayo, Junín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¿POR QUÉ CALIFICAR A LOS PROVEEDORES?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18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Sin historial auditado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984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No existe registro de desempeño previo que respalde la selección de proveedores.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4173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82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618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Oligopolio persistente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0" y="1984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Solo el 6.3% de inscritos en el RNP ha logrado adjudicarse un contrato en 11 años.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31089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20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310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Riesgo de corrupción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97280" y="36758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La discrecionalidad del funcionario en la evaluación abre puertas a irregularidades.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31089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5204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310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Procesos desiertos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0" y="36758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El 17.8% de ítems quedan sin postores, paralizando S/ 93,718 millones.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LA EVIDENCIA ESTADÍSTICA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600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628"/>
                </a:solidFill>
              </a:rPr>
              <a:t>2,191,501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514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Proveedores inscritos en el RNP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600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138,038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2514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Lograron adjudicarse al menos 1 contrato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00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6.3%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2514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Tasa de acceso efectivo al mercado estatal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1097280" y="3566160"/>
          <a:ext cx="32004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Fuente: OECE — Estadísticas Generales de Contrataciones Públicas 2026 (periodo 2015–2026)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</a:rPr>
              <a:t>LA SOLUCIÓN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Panel de Analítica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Visual Dinámica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</a:rPr>
              <a:t>Un perfil histórico y auditable para cada proveedor,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</a:rPr>
              <a:t>generado automáticamente por la plataforma unificada del Estado.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914400" cy="9144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11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343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Calidad-Precio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0320" y="3383280"/>
            <a:ext cx="914400" cy="914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3611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23160" y="4343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Plazos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63440" y="3383280"/>
            <a:ext cx="914400" cy="91440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6118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6280" y="4343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Satisfacción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766560" y="3383280"/>
            <a:ext cx="914400" cy="91440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36118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29400" y="4343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Postventa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CRITERIO 1 DE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" y="6858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Relación Calidad-Precio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(Eficiencia Económica)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200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¿Qué mide?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21031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Evaluación algorítmica automatizada que analiza el costo real del bien, obra o servicio ofertado en función de los estándares técnicos comprometidos por el postor.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¿Cómo funciona?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3611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Cruce automático</a:t>
            </a:r>
            <a:r>
              <a:rPr lang="en-US" sz="1200" dirty="0">
                <a:solidFill>
                  <a:srgbClr val="1E293B"/>
                </a:solidFill>
              </a:rPr>
              <a:t> con precios de referencia del mercado.
</a:t>
            </a:r>
            <a:r>
              <a:rPr lang="en-US" sz="1200" b="1" dirty="0">
                <a:solidFill>
                  <a:srgbClr val="1E293B"/>
                </a:solidFill>
              </a:rPr>
              <a:t>Score numérico</a:t>
            </a:r>
            <a:r>
              <a:rPr lang="en-US" sz="1200" dirty="0">
                <a:solidFill>
                  <a:srgbClr val="1E293B"/>
                </a:solidFill>
              </a:rPr>
              <a:t> de 0 a 100 por cada proceso adjudicado.
</a:t>
            </a:r>
            <a:r>
              <a:rPr lang="en-US" sz="1200" b="1" dirty="0">
                <a:solidFill>
                  <a:srgbClr val="1E293B"/>
                </a:solidFill>
              </a:rPr>
              <a:t>Promedio acumulado</a:t>
            </a:r>
            <a:r>
              <a:rPr lang="en-US" sz="1200" dirty="0">
                <a:solidFill>
                  <a:srgbClr val="1E293B"/>
                </a:solidFill>
              </a:rPr>
              <a:t> visible en el perfil público del proveedor.</a:t>
            </a:r>
            <a:endParaRPr lang="en-US" sz="1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486400" y="1371600"/>
          <a:ext cx="3383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CRITERIO 2 DE 4 — Índice de Cumplimiento de Plazos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Métrica que contrasta los tiempos reales de entrega frente a los plazos contractualmente pactados en cada proyecto anterior.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10312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669280" y="2103120"/>
            <a:ext cx="32004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06440" y="210312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Semáforo visual: verde (puntual), amarillo (&lt;10 días tardanza), rojo (incumplimiento).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69280" y="3063240"/>
            <a:ext cx="32004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806440" y="306324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Índice de Puntualidad calculado como % de proyectos entregados a tiempo.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0" y="4023360"/>
            <a:ext cx="32004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806440" y="402336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Registro inmutable e historial acumulado desde el primer contrato adjudicado.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00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</a:rPr>
              <a:t>CRITERIO 3 DE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" y="685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Score de Satisfacción del Usuario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20040" y="15544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Indicador cuantitativo y cualitativo que recopila la calificación emitida por los funcionarios del área usuaria de la municipalidad tras la conformidad de cada servicio.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606040"/>
            <a:ext cx="411480" cy="41148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06040"/>
            <a:ext cx="411480" cy="41148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606040"/>
            <a:ext cx="411480" cy="41148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606040"/>
            <a:ext cx="411480" cy="411480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2606040"/>
            <a:ext cx="411480" cy="41148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292608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4.2 / 5.0 — Calificación promedio del proveedor</a:t>
            </a:r>
            <a:endParaRPr lang="en-US" sz="13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303520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Text 5"/>
          <p:cNvSpPr/>
          <p:nvPr/>
        </p:nvSpPr>
        <p:spPr>
          <a:xfrm>
            <a:off x="320040" y="320040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Cuantitativo: </a:t>
            </a:r>
            <a:r>
              <a:rPr lang="en-US" sz="1200" dirty="0">
                <a:solidFill>
                  <a:srgbClr val="1E293B"/>
                </a:solidFill>
              </a:rPr>
              <a:t>escala numérica de 1 a 5.
</a:t>
            </a:r>
            <a:r>
              <a:rPr lang="en-US" sz="1200" b="1" dirty="0">
                <a:solidFill>
                  <a:srgbClr val="1E293B"/>
                </a:solidFill>
              </a:rPr>
              <a:t>Cualitativo: </a:t>
            </a:r>
            <a:r>
              <a:rPr lang="en-US" sz="1200" dirty="0">
                <a:solidFill>
                  <a:srgbClr val="1E293B"/>
                </a:solidFill>
              </a:rPr>
              <a:t>comentario abierto del funcionario responsable.
</a:t>
            </a:r>
            <a:r>
              <a:rPr lang="en-US" sz="1200" b="1" dirty="0">
                <a:solidFill>
                  <a:srgbClr val="1E293B"/>
                </a:solidFill>
              </a:rPr>
              <a:t>Multidimensional: </a:t>
            </a:r>
            <a:r>
              <a:rPr lang="en-US" sz="1200" dirty="0">
                <a:solidFill>
                  <a:srgbClr val="1E293B"/>
                </a:solidFill>
              </a:rPr>
              <a:t>5 dimensiones evaluadas por proyecto.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CRITERIO 4 DE 4 — Historial de Sostenibilidad y Postventa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Registro del desempeño, asistencia técnica posterior y soporte postentrega brindado por el contratista en obras anteriores.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224028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5603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377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Garantía cumplida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5156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¿El proveedor honró sus compromisos de garantía post-entrega?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663440" y="224028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56032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49240" y="2377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Asistencia técnica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34924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¿Proveyó capacitación y soporte técnico a los usuarios finales?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65760" y="361188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93192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749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Disponibilidad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051560" y="4114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¿Respondió a incidencias reportadas en menos de 48 horas?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663440" y="361188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93192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49240" y="3749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Sin litigios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349240" y="4114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¿El contrato concluyó sin arbitrajes, penalidades ni rescisiones?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LOS 4 CRITERIOS DE CALIFICACIÓN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</a:rPr>
              <a:t>Matriz estandarizada y automatizada para evaluar a todos los proveedores del Estado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Calidad-Precio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Eficiencia Económica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78308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Cumplimiento de Plazos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Puntualidad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Satisfacción del Usuario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Evaluación de Gestión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1546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520440"/>
            <a:ext cx="685800" cy="6858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Sostenibilidad y Postventa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Soporte Postentrega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PERFIL HISTÓRICO AUDITABLE DEL PROVEEDOR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356616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8412480" cy="6858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Empresa: CONSTRUCCIONES ANDES S.A.C. | RUC: 20512345678 | RNP activo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88/100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C/P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1488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92/100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Plazos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1488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</a:rPr>
              <a:t>84/100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Satisfac.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21488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90/100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Postventa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291840"/>
            <a:ext cx="8138160" cy="594360"/>
          </a:xfrm>
          <a:prstGeom prst="roundRect">
            <a:avLst>
              <a:gd name="adj" fmla="val 12308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918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SCORE TOTAL PONDERADO:  88.5 / 100  —  Proveedor VERIFICADO ✓  |  Contratos adjudicados: 12  |  Sin litigios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BENEFICIOS DEL SISTEMA DE CALIFICACIÓN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002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Elimina la corrupción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" y="20756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Criterios algorítmicos sustituyen la discrecionalidad del funcionario público en la evaluación.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417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6002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Premia la meritocracia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64992" y="20756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Los mejores proveedores acumulan puntaje y obtienen visibilidad preferencial en convocatorias futuras.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417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6002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Amplía la competencia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91072" y="20756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Los nuevos emprendedores construyen historial desde su primer contrato, compitiendo en igualdad.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74320" y="31089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2918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2918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Mejora la calidad del gasto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38912" y="376732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El Estado adquiere bienes y servicios de calidad comprobada, reduciendo costos en ~28%.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00400" y="31089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2918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32918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Reduce procesos desiertos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364992" y="376732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Más proveedores calificados → más ofertantes por convocatoria → tasa desiertos ≈ 0%.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126480" y="31089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2918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2918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Transparencia ciudadana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291072" y="376732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Cualquier ciudadano puede consultar el perfil público y auditable de cada proveedor del Estado.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IMPACTO PROYECTADO CON EL NUEVO SISTEMA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801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41732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508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4.5x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852160" y="2011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más postores por convocatoria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265176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2743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−28%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52160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en costos de contratación pública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388620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3977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</a:rPr>
              <a:t>≈0%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852160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procesos desiertos proyectados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Fuente: Modelo de proyección basado en datos OECE 2015–2026 y teoría de competencia perfecta.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</a:rPr>
              <a:t>CONCLUSIÓN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Un sistema justo,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transparente 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meritocrático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</a:rPr>
              <a:t>El panel de analítica visual dinámico elimina la discrecionalidad, combate la corrupción y garantiza que el Estado peruano contrate siempre al mejor proveedor — no al único que pudo con el papeleo.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43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Hackathon Transformagob 2026 · Miraflores, Lima, Perú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Presentación en pantalla (16:9)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Analítica Visual y Calificación de Proveedores</dc:title>
  <dc:subject>PptxGenJS Presentation</dc:subject>
  <dc:creator>PptxGenJS</dc:creator>
  <cp:lastModifiedBy>ALBERT ANDRIU LANDA ROSARIO</cp:lastModifiedBy>
  <cp:revision>1</cp:revision>
  <dcterms:created xsi:type="dcterms:W3CDTF">2026-06-14T23:59:39Z</dcterms:created>
  <dcterms:modified xsi:type="dcterms:W3CDTF">2026-06-15T00:03:04Z</dcterms:modified>
</cp:coreProperties>
</file>